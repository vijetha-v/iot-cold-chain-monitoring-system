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embeddedFontLst>
    <p:embeddedFont>
      <p:font typeface="Plus Jakarta Sans" panose="020B0604020202020204" charset="0"/>
      <p:regular r:id="rId15"/>
      <p:bold r:id="rId16"/>
      <p:italic r:id="rId17"/>
      <p:boldItalic r:id="rId18"/>
    </p:embeddedFont>
    <p:embeddedFont>
      <p:font typeface="Plus Jakarta Sans Medium" panose="020B0604020202020204" charset="0"/>
      <p:regular r:id="rId19"/>
      <p:bold r:id="rId20"/>
      <p:italic r:id="rId21"/>
      <p:boldItalic r:id="rId22"/>
    </p:embeddedFont>
    <p:embeddedFont>
      <p:font typeface="Plus Jakarta Sans SemiBold" panose="020B0604020202020204" charset="0"/>
      <p:regular r:id="rId23"/>
      <p:bold r:id="rId24"/>
      <p:italic r:id="rId25"/>
      <p:boldItalic r:id="rId26"/>
    </p:embeddedFont>
    <p:embeddedFont>
      <p:font typeface="Space Grotesk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33825" y="1627882"/>
            <a:ext cx="4324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MAJOR PROJECT - COHORT 04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20365" y="2447032"/>
            <a:ext cx="10151268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IoT-Driven Cold Chain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3941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Monitoring and Predictive Failure Prevention for Temperature-Sensitive Logistics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639567"/>
            <a:ext cx="342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Krithi | Harsha Vardhan S | Ananya C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84625" y="4639567"/>
            <a:ext cx="342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Vijetha | P Krishna Vamsi | Durga Prasad 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997725" y="4639567"/>
            <a:ext cx="342274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Sachidananda M M | Ramitha R | Nagaraju 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5030092"/>
            <a:ext cx="342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Hadiya Khan | C Pavitra | Charan B 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384625" y="5030092"/>
            <a:ext cx="342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 Vidya Shree | Abhinav P | Sachin Murchavar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5524500" y="2705100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052637" y="3028950"/>
            <a:ext cx="849106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FRAMEWORK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486275" y="3867150"/>
            <a:ext cx="3219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Context, Motivation, and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605855"/>
            <a:ext cx="5181600" cy="226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605855"/>
            <a:ext cx="5181600" cy="226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156620"/>
            <a:ext cx="5181600" cy="197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156620"/>
            <a:ext cx="5181600" cy="1979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114425" y="1948755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Necessity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14425" y="2384970"/>
            <a:ext cx="449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Rising demand for </a:t>
            </a:r>
            <a:r>
              <a:rPr lang="en-US" sz="1500" b="0" i="0" u="none" strike="noStrike" cap="none" dirty="0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vaccine distribution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perishable goods logistics requires environmental control to prevent multi-million dollar losses.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6581775" y="1948755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Preventive Gap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2384970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systems are reactive. Our motivation is to integrate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predictive analytics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mitigate risks before spoilage occurs.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14425" y="4499520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 Error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14425" y="4935735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monitoring is prone to oversight. Automation ensures continuous compliance with WHO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2-8°C norms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81775" y="4499520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Scalability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81775" y="4935735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need for cost-effective,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IoT-enabled solutions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that can be deployed across vast logistical networks with ease.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MOTIVATION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5870"/>
            <a:ext cx="50863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71525" y="225162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systems focus on monitoring,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not prevention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71525" y="3061245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Lack of real-time humidity and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airflow control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causes produce spoilage.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71525" y="387087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response mechanisms lead to critical temperature rises.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71525" y="4680495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dependence on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manual intervention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unreliable internet.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30400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1136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9232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73288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</a:t>
            </a: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STATEMENT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9039F11-4DB2-34DB-41F5-1AF782154030}"/>
              </a:ext>
            </a:extLst>
          </p:cNvPr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9405" y="1455494"/>
            <a:ext cx="3973286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84077"/>
            <a:ext cx="2519362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1387" y="2384077"/>
            <a:ext cx="2519362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384077"/>
            <a:ext cx="2519362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1112" y="2384077"/>
            <a:ext cx="2519362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66982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057275" y="3279427"/>
            <a:ext cx="204525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Storage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57275" y="3605063"/>
            <a:ext cx="19478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a robust system for safe storage of vaccines and fresh produce.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67137" y="266982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3767137" y="3279427"/>
            <a:ext cx="204525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767137" y="3605063"/>
            <a:ext cx="19478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tracking of temperature, humidity, and airflow patterns.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669827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6477000" y="3279427"/>
            <a:ext cx="204525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Auto-Control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477000" y="3605063"/>
            <a:ext cx="19478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 automatic failure prevention via closed-loop hardware logic.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86862" y="2669827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186862" y="3279427"/>
            <a:ext cx="204525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Alerting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86862" y="3605063"/>
            <a:ext cx="1947862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real-time GSM and IoT dashboard notifications for anomalies.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771525" y="3861345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723606" y="3480345"/>
            <a:ext cx="20127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4051695"/>
            <a:ext cx="191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Sensor interfacing (DHT22, Reed, GSM) with ESP32.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2906617" y="3480345"/>
            <a:ext cx="20127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954573" y="4051695"/>
            <a:ext cx="19167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Threshold comparison (2-8°C, ≤90% RH) in real-time.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089627" y="3480345"/>
            <a:ext cx="201259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137571" y="4051845"/>
            <a:ext cx="191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Triggering Peltier cooling and backup buzzer/SMS.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272638" y="3480345"/>
            <a:ext cx="201259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320557" y="4018245"/>
            <a:ext cx="191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Trend analysis via Blynk Cloud for predictive flagging.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455649" y="3480345"/>
            <a:ext cx="201259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503568" y="3985170"/>
            <a:ext cx="191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under simulated failure conditions.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615603" y="3756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798614" y="3756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981625" y="3756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164636" y="3756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0347647" y="3756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9715"/>
            <a:ext cx="5086350" cy="420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6677025" y="2112615"/>
            <a:ext cx="4620577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Components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77025" y="2485876"/>
            <a:ext cx="44005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ESP32: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Central microcontroller for processing and MQTT.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77025" y="3171676"/>
            <a:ext cx="44005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DHT22: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High-precision humidity and temperature sensing.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677025" y="3857476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SIM900: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GSM module for off-grid SMS alerting.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77025" y="4257526"/>
            <a:ext cx="44005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Peltier: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Thermo-electric cooling for active temperature control.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77025" y="4943326"/>
            <a:ext cx="44005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Buck Converter: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Voltage regulation for 12V battery packs.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78F09E-A4CA-BC1D-EDA8-FF0F1F450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1664940"/>
            <a:ext cx="362596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337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07915"/>
            <a:ext cx="45624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71525" y="581025"/>
            <a:ext cx="479059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IOT APP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71525" y="1464915"/>
            <a:ext cx="4562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have developed a bespoke mobile application specifically designed for the real-time visualization of cold chain parameters.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14425" y="2950815"/>
            <a:ext cx="40705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Secure Access &amp; Monitoring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14425" y="3303240"/>
            <a:ext cx="387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app features a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Login Interface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with real-time data sync via Blynk Cloud.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4446240"/>
            <a:ext cx="1905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23925" y="477009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 Monitoring</a:t>
            </a:r>
            <a:endParaRPr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76600" y="4446240"/>
            <a:ext cx="1905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3276600" y="477009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Humidity Control</a:t>
            </a:r>
            <a:endParaRPr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5417790"/>
            <a:ext cx="1905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923925" y="574164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Connected</a:t>
            </a:r>
            <a:endParaRPr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76600" y="5417790"/>
            <a:ext cx="1905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3276600" y="574164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Alerts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EF894-9533-5971-61ED-27347F93FEB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6234" b="2433"/>
          <a:stretch>
            <a:fillRect/>
          </a:stretch>
        </p:blipFill>
        <p:spPr>
          <a:xfrm>
            <a:off x="7448073" y="223807"/>
            <a:ext cx="308610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34480"/>
            <a:ext cx="5181600" cy="1693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034480"/>
            <a:ext cx="5181600" cy="1693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013745"/>
            <a:ext cx="5181600" cy="1693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13745"/>
            <a:ext cx="5181600" cy="1693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114425" y="2377380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Harsh Environments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14425" y="2813595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Ensuring sensor accuracy in sub-zero conditions via robust calibration and shielded enclosures.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581775" y="2377380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Reliability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581775" y="2813595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Implemented dual-channel alerts (Wi-Fi + GSM) to ensure uptime during infrastructure failures.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114425" y="4356645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Energy Efficiency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114425" y="4792860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Optimized cooling control logic to maximize 12V battery life during mobile transit.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581775" y="4356645"/>
            <a:ext cx="47205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Volume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581775" y="4792860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Handling large telemetry streams for predictive analytics through edge filtering on ESP32.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MITIGATION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73672"/>
            <a:ext cx="5086350" cy="279454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771525" y="2675483"/>
            <a:ext cx="50863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99%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71525" y="4008983"/>
            <a:ext cx="5086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Reliability in Real-Time Alerts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71525" y="4494758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Drastic reduction in spoilage through proactive corrective actions and early flagging.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677025" y="2816572"/>
            <a:ext cx="462057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Impact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677025" y="3210817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compliance with WHO storage norms.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677025" y="3639442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Scalable solution for logistics companies.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677025" y="4068067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Transparent audit trails via cloud logging.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677025" y="4496692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prevention vs Reactive monitoring.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2632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6918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41204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454908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1009650" y="581025"/>
            <a:ext cx="1093136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EXPECTED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OUTCOMES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771525" y="581025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A06D0-0CD7-4CBC-189C-BB4AD8820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2" name="WhatsApp Video 2026-05-04 at 3.15.57 PM">
            <a:hlinkClick r:id="" action="ppaction://media"/>
            <a:extLst>
              <a:ext uri="{FF2B5EF4-FFF2-40B4-BE49-F238E27FC236}">
                <a16:creationId xmlns:a16="http://schemas.microsoft.com/office/drawing/2014/main" id="{C848EC3B-12F3-FDD8-2905-64700D3B9B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456" y="100922"/>
            <a:ext cx="11830759" cy="661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3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/>
          <p:nvPr/>
        </p:nvSpPr>
        <p:spPr>
          <a:xfrm>
            <a:off x="1795653" y="3480270"/>
            <a:ext cx="106491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771525" y="3480345"/>
            <a:ext cx="10649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71525" y="3480345"/>
            <a:ext cx="10649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71525" y="4251870"/>
            <a:ext cx="10649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71525" y="4251870"/>
            <a:ext cx="10649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828825" y="3593863"/>
            <a:ext cx="1093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                         THANK YOU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515</Words>
  <Application>Microsoft Office PowerPoint</Application>
  <PresentationFormat>Widescreen</PresentationFormat>
  <Paragraphs>78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Plus Jakarta Sans Medium</vt:lpstr>
      <vt:lpstr>Plus Jakarta Sans SemiBold</vt:lpstr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Hadiya Khan</cp:lastModifiedBy>
  <cp:revision>6</cp:revision>
  <dcterms:modified xsi:type="dcterms:W3CDTF">2026-05-04T10:43:33Z</dcterms:modified>
</cp:coreProperties>
</file>